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220">
                <a:solidFill>
                  <a:srgbClr val="2FD0A0"/>
                </a:solidFill>
                <a:latin typeface="Roboto Mono"/>
              </a:rPr>
              <a:t>◆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ENCODE · PROGRAMMABLE MONEY HACKATHON — AGENTIC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600" b="1" i="0" spc="-100">
                <a:solidFill>
                  <a:srgbClr val="E9EEF4"/>
                </a:solidFill>
                <a:latin typeface="Roboto Mono"/>
              </a:rPr>
              <a:t>Agent</a:t>
            </a:r>
            <a:r>
              <a:rPr sz="9600" b="1" i="0" spc="-100">
                <a:solidFill>
                  <a:srgbClr val="2FD0A0"/>
                </a:solidFill>
                <a:latin typeface="Roboto Mono"/>
              </a:rPr>
              <a:t>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900" b="0" i="0">
                <a:solidFill>
                  <a:srgbClr val="9BA9BC"/>
                </a:solidFill>
                <a:latin typeface="Roboto"/>
              </a:rPr>
              <a:t>The compliant settlement layer for the agent economy. </a:t>
            </a:r>
            <a:r>
              <a:rPr sz="1900" b="1" i="0">
                <a:solidFill>
                  <a:srgbClr val="E9EEF4"/>
                </a:solidFill>
                <a:latin typeface="Roboto"/>
              </a:rPr>
              <a:t>Named wallets, sub-cent payments, and screened escrow</a:t>
            </a:r>
            <a:r>
              <a:rPr sz="1900" b="0" i="0">
                <a:solidFill>
                  <a:srgbClr val="9BA9BC"/>
                </a:solidFill>
                <a:latin typeface="Roboto"/>
              </a:rPr>
              <a:t> — every leg settled in USDC on Arc.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60">
                <a:solidFill>
                  <a:srgbClr val="6B7A8E"/>
                </a:solidFill>
                <a:latin typeface="Roboto Mono"/>
              </a:rPr>
              <a:t>USDC-native      Arc L1 · chain 5042002      x402 micropayments      Circle Agent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806440"/>
            <a:ext cx="5394960" cy="502920"/>
          </a:xfrm>
          <a:prstGeom prst="roundRect">
            <a:avLst>
              <a:gd name="adj" fmla="val 4500"/>
            </a:avLst>
          </a:prstGeom>
          <a:solidFill>
            <a:srgbClr val="0E1520"/>
          </a:solidFill>
          <a:ln w="12700">
            <a:solidFill>
              <a:srgbClr val="2F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 spc="50">
                <a:solidFill>
                  <a:srgbClr val="2FD0A0"/>
                </a:solidFill>
                <a:latin typeface="Roboto Mono"/>
              </a:rPr>
              <a:t>●  Working end-to-end on Arc rails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01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Agents can already spend.</a:t>
            </a:r>
          </a:p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Nothing lets them </a:t>
            </a:r>
            <a:r>
              <a:rPr sz="4000" b="1" i="0" spc="-40">
                <a:solidFill>
                  <a:srgbClr val="2FD0A0"/>
                </a:solidFill>
                <a:latin typeface="Roboto Mono"/>
              </a:rPr>
              <a:t>settle</a:t>
            </a:r>
            <a:r>
              <a:rPr sz="4000" b="1" i="0" spc="-40">
                <a:solidFill>
                  <a:srgbClr val="E9EEF4"/>
                </a:solidFill>
                <a:latin typeface="Roboto Mono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63240"/>
            <a:ext cx="3423818" cy="292608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00" b="1" i="0" spc="140">
                <a:solidFill>
                  <a:srgbClr val="2FD0A0"/>
                </a:solidFill>
                <a:latin typeface="Roboto Mono"/>
              </a:rPr>
              <a:t>NO IDENTITY</a:t>
            </a:r>
          </a:p>
          <a:p>
            <a:pPr algn="l">
              <a:spcBef>
                <a:spcPts val="1000"/>
              </a:spcBef>
            </a:pPr>
            <a:r>
              <a:rPr sz="1800" b="1" i="0">
                <a:solidFill>
                  <a:srgbClr val="E9EEF4"/>
                </a:solidFill>
                <a:latin typeface="Roboto"/>
              </a:rPr>
              <a:t>An address, not an account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50" b="0" i="0">
                <a:solidFill>
                  <a:srgbClr val="9BA9BC"/>
                </a:solidFill>
                <a:latin typeface="Roboto"/>
              </a:rPr>
              <a:t>Agents have a hex address — no name, no discoverable service, no reputation, no way to prove who they are before money moves.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3063240"/>
            <a:ext cx="3423818" cy="292608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00" b="1" i="0" spc="140">
                <a:solidFill>
                  <a:srgbClr val="2FD0A0"/>
                </a:solidFill>
                <a:latin typeface="Roboto Mono"/>
              </a:rPr>
              <a:t>MICRO DOESN'T FIT</a:t>
            </a:r>
          </a:p>
          <a:p>
            <a:pPr algn="l">
              <a:spcBef>
                <a:spcPts val="1000"/>
              </a:spcBef>
            </a:pPr>
            <a:r>
              <a:rPr sz="1800" b="1" i="0">
                <a:solidFill>
                  <a:srgbClr val="E9EEF4"/>
                </a:solidFill>
                <a:latin typeface="Roboto"/>
              </a:rPr>
              <a:t>Card rails floor at ~$0.30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50" b="0" i="0">
                <a:solidFill>
                  <a:srgbClr val="9BA9BC"/>
                </a:solidFill>
                <a:latin typeface="Roboto"/>
              </a:rPr>
              <a:t>An agent buying a $0.002 datapoint per call can't touch card networks — the minimum fee is 150× the purchase.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0636" y="3063240"/>
            <a:ext cx="3423818" cy="292608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00" b="1" i="0" spc="140">
                <a:solidFill>
                  <a:srgbClr val="2FD0A0"/>
                </a:solidFill>
                <a:latin typeface="Roboto Mono"/>
              </a:rPr>
              <a:t>TRUST GAP</a:t>
            </a:r>
          </a:p>
          <a:p>
            <a:pPr algn="l">
              <a:spcBef>
                <a:spcPts val="1000"/>
              </a:spcBef>
            </a:pPr>
            <a:r>
              <a:rPr sz="1800" b="1" i="0">
                <a:solidFill>
                  <a:srgbClr val="E9EEF4"/>
                </a:solidFill>
                <a:latin typeface="Roboto"/>
              </a:rPr>
              <a:t>Nobody wires $5k blind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50" b="0" i="0">
                <a:solidFill>
                  <a:srgbClr val="9BA9BC"/>
                </a:solidFill>
                <a:latin typeface="Roboto"/>
              </a:rPr>
              <a:t>No one lets an autonomous agent send five figures to an unscreened counterparty with no escrow and no recourse.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02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A </a:t>
            </a:r>
            <a:r>
              <a:rPr sz="4000" b="1" i="0" spc="-40">
                <a:solidFill>
                  <a:srgbClr val="2FD0A0"/>
                </a:solidFill>
                <a:latin typeface="Roboto Mono"/>
              </a:rPr>
              <a:t>trust stack</a:t>
            </a:r>
            <a:r>
              <a:rPr sz="4000" b="1" i="0" spc="-40">
                <a:solidFill>
                  <a:srgbClr val="E9EEF4"/>
                </a:solidFill>
                <a:latin typeface="Roboto Mono"/>
              </a:rPr>
              <a:t> for agent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9BA9BC"/>
                </a:solidFill>
                <a:latin typeface="Roboto"/>
              </a:rPr>
              <a:t>Stripe + escrow + KYC for the agent economy — six layers, one settlement asset. Arc supplies the rails; AgentMesh supplies the trust.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971800"/>
          <a:ext cx="1063721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029200"/>
                <a:gridCol w="3504895"/>
              </a:tblGrid>
              <a:tr h="483325">
                <a:tc>
                  <a:txBody>
                    <a:bodyPr/>
                    <a:lstStyle/>
                    <a:p>
                      <a:r>
                        <a:rPr sz="1100" b="0" i="0" spc="140">
                          <a:solidFill>
                            <a:srgbClr val="6B7A8E"/>
                          </a:solidFill>
                          <a:latin typeface="Roboto Mono"/>
                        </a:rPr>
                        <a:t>LAYER</a:t>
                      </a:r>
                    </a:p>
                  </a:txBody>
                  <a:tcPr marL="146304" marT="54864" marB="54864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spc="140">
                          <a:solidFill>
                            <a:srgbClr val="6B7A8E"/>
                          </a:solidFill>
                          <a:latin typeface="Roboto Mono"/>
                        </a:rPr>
                        <a:t>WHAT IT DOES</a:t>
                      </a:r>
                    </a:p>
                  </a:txBody>
                  <a:tcPr marL="146304" marT="54864" marB="54864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spc="140">
                          <a:solidFill>
                            <a:srgbClr val="6B7A8E"/>
                          </a:solidFill>
                          <a:latin typeface="Roboto Mono"/>
                        </a:rPr>
                        <a:t>POWERED BY</a:t>
                      </a:r>
                    </a:p>
                  </a:txBody>
                  <a:tcPr marL="146304" marT="54864" marB="54864">
                    <a:solidFill>
                      <a:srgbClr val="0E1520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Identity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Named agent wallets — databot.agent.arc + card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ERC-721 registry · Circle Wallets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Payments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Sub-cent, per-call streaming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x402 handshake on Arc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Settlement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High-value jobs locked in escrow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AgentEscrow.sol · USDC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Compliance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Seller screened before funds release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ComplianceGate · Circle CE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Automation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Auto-release, deadline refunds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event-driven watcher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9EEF4"/>
                          </a:solidFill>
                          <a:latin typeface="Roboto Mono"/>
                        </a:rPr>
                        <a:t>Brain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9BA9BC"/>
                          </a:solidFill>
                          <a:latin typeface="Roboto"/>
                        </a:rPr>
                        <a:t>Any MCP model plugs in as an agent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@agentmesh/mcp-server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03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PROGRAMMABLE MONEY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b="1" i="0" spc="-40">
                <a:solidFill>
                  <a:srgbClr val="E9EEF4"/>
                </a:solidFill>
                <a:latin typeface="Roboto Mono"/>
              </a:rPr>
              <a:t>Two settlement modes,</a:t>
            </a:r>
          </a:p>
          <a:p>
            <a:pPr>
              <a:lnSpc>
                <a:spcPct val="102000"/>
              </a:lnSpc>
            </a:pPr>
            <a:r>
              <a:rPr sz="3600" b="1" i="0" spc="-40">
                <a:solidFill>
                  <a:srgbClr val="E9EEF4"/>
                </a:solidFill>
                <a:latin typeface="Roboto Mono"/>
              </a:rPr>
              <a:t>one </a:t>
            </a:r>
            <a:r>
              <a:rPr sz="3600" b="1" i="0" spc="-40">
                <a:solidFill>
                  <a:srgbClr val="2FD0A0"/>
                </a:solidFill>
                <a:latin typeface="Roboto Mono"/>
              </a:rPr>
              <a:t>conditional</a:t>
            </a:r>
            <a:r>
              <a:rPr sz="3600" b="1" i="0" spc="-40">
                <a:solidFill>
                  <a:srgbClr val="E9EEF4"/>
                </a:solidFill>
                <a:latin typeface="Roboto Mono"/>
              </a:rPr>
              <a:t> spine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5181447" cy="301752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/>
            <a:r>
              <a:rPr sz="1200" b="1" i="0" spc="120">
                <a:solidFill>
                  <a:srgbClr val="2FD0A0"/>
                </a:solidFill>
                <a:latin typeface="Roboto Mono"/>
              </a:rPr>
              <a:t>[x402]  </a:t>
            </a:r>
            <a:r>
              <a:rPr sz="1200" b="0" i="0" spc="120">
                <a:solidFill>
                  <a:srgbClr val="6B7A8E"/>
                </a:solidFill>
                <a:latin typeface="Roboto Mono"/>
              </a:rPr>
              <a:t>STREAMING MICROPAYMENTS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1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Agent hits a priced endpoint → HTTP 402 + a signed quote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2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Pays on-chain USDC, signs quoteId‖txHash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3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Retries with X-PAYMENT; server verifies the transfer on-chain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4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Payer-bound &amp; replay-safe — observed transfers can't be stolen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788920"/>
            <a:ext cx="5181447" cy="301752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/>
            <a:r>
              <a:rPr sz="1200" b="1" i="0" spc="120">
                <a:solidFill>
                  <a:srgbClr val="2FD0A0"/>
                </a:solidFill>
                <a:latin typeface="Roboto Mono"/>
              </a:rPr>
              <a:t>[escrow]  </a:t>
            </a:r>
            <a:r>
              <a:rPr sz="1200" b="0" i="0" spc="120">
                <a:solidFill>
                  <a:srgbClr val="6B7A8E"/>
                </a:solidFill>
                <a:latin typeface="Roboto Mono"/>
              </a:rPr>
              <a:t>MULTI-STEP SETTLEMENT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1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createJob — buyer locks USDC for a named seller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2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deliver — seller submits proof hash on-chain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3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Dispute window → release, gated on isAllowed(seller)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200" b="1" i="0">
                <a:solidFill>
                  <a:srgbClr val="2FD0A0"/>
                </a:solidFill>
                <a:latin typeface="Roboto Mono"/>
              </a:rPr>
              <a:t>4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Branches: dispute→arbiter · deadline→refund · blocked→refundBlocked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400" b="0" i="0">
                <a:solidFill>
                  <a:srgbClr val="9BA9BC"/>
                </a:solidFill>
                <a:latin typeface="Roboto"/>
              </a:rPr>
              <a:t>Money release is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conditional on compliance, delivery, and time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a real multi-step flow, not a bare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04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1" i="0" spc="-40">
                <a:solidFill>
                  <a:srgbClr val="E9EEF4"/>
                </a:solidFill>
                <a:latin typeface="Roboto Mono"/>
              </a:rPr>
              <a:t>One monorepo, </a:t>
            </a:r>
            <a:r>
              <a:rPr sz="3800" b="1" i="0" spc="-40">
                <a:solidFill>
                  <a:srgbClr val="4C8DFF"/>
                </a:solidFill>
                <a:latin typeface="Roboto Mono"/>
              </a:rPr>
              <a:t>seven</a:t>
            </a:r>
            <a:r>
              <a:rPr sz="3800" b="1" i="0" spc="-40">
                <a:solidFill>
                  <a:srgbClr val="E9EEF4"/>
                </a:solidFill>
                <a:latin typeface="Roboto Mono"/>
              </a:rPr>
              <a:t> moving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contracts/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Foundry — AgentRegistry, AgentEscrow, ComplianceGate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514600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packages/sdk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viem client, wallet providers (EOA ⇄ Circle), paidFetch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92424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packages/shared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Arc chain config, ABIs, x402 wire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392424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apps/mcp-server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agent brain — MCP tools any model can drive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70248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apps/seller-agent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DataAgent — x402-priced API + escrow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270248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apps/watcher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screening + auto-release / refund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48072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apps/dashboard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Next.js live view — agents, payments, escrow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5148072"/>
            <a:ext cx="5181447" cy="713232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i="0">
                <a:solidFill>
                  <a:srgbClr val="2FD0A0"/>
                </a:solidFill>
                <a:latin typeface="Roboto Mono"/>
              </a:rPr>
              <a:t>apps/extension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MV3 popup — human oversight, approve / dispute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05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1" i="0" spc="-40">
                <a:solidFill>
                  <a:srgbClr val="E9EEF4"/>
                </a:solidFill>
                <a:latin typeface="Roboto Mono"/>
              </a:rPr>
              <a:t>What stablecoin-native</a:t>
            </a:r>
          </a:p>
          <a:p>
            <a:pPr>
              <a:lnSpc>
                <a:spcPct val="102000"/>
              </a:lnSpc>
            </a:pPr>
            <a:r>
              <a:rPr sz="3800" b="1" i="0" spc="-40">
                <a:solidFill>
                  <a:srgbClr val="2FD0A0"/>
                </a:solidFill>
                <a:latin typeface="Roboto Mono"/>
              </a:rPr>
              <a:t>makes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2522143" cy="160020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l"/>
            <a:r>
              <a:rPr sz="3400" b="1" i="0">
                <a:solidFill>
                  <a:srgbClr val="2FD0A0"/>
                </a:solidFill>
                <a:latin typeface="Roboto Mono"/>
              </a:rPr>
              <a:t>50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paid API calls settled on-chain in one demo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2263" y="2880360"/>
            <a:ext cx="2522143" cy="160020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l"/>
            <a:r>
              <a:rPr sz="3400" b="1" i="0">
                <a:solidFill>
                  <a:srgbClr val="E5B567"/>
                </a:solidFill>
                <a:latin typeface="Roboto Mono"/>
              </a:rPr>
              <a:t>$0.001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per-call price — 300× below the card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2880360"/>
            <a:ext cx="2522143" cy="160020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l"/>
            <a:r>
              <a:rPr sz="3400" b="1" i="0">
                <a:solidFill>
                  <a:srgbClr val="4C8DFF"/>
                </a:solidFill>
                <a:latin typeface="Roboto Mono"/>
              </a:rPr>
              <a:t>6 dp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USDC ERC-20 precision for true sub-cent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2311" y="2880360"/>
            <a:ext cx="2522143" cy="160020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l"/>
            <a:r>
              <a:rPr sz="3400" b="1" i="0">
                <a:solidFill>
                  <a:srgbClr val="2FD0A0"/>
                </a:solidFill>
                <a:latin typeface="Roboto Mono"/>
              </a:rPr>
              <a:t>&lt;1s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9BA9BC"/>
                </a:solidFill>
                <a:latin typeface="Roboto"/>
              </a:rPr>
              <a:t>Arc finality — settlement at machine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372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5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500" b="1" i="0">
                <a:solidFill>
                  <a:srgbClr val="E9EEF4"/>
                </a:solidFill>
                <a:latin typeface="Roboto"/>
              </a:rPr>
              <a:t>Machine-speed markets</a:t>
            </a:r>
            <a:r>
              <a:rPr sz="1500" b="0" i="0">
                <a:solidFill>
                  <a:srgbClr val="9BA9BC"/>
                </a:solidFill>
                <a:latin typeface="Roboto"/>
              </a:rPr>
              <a:t> — agents pay per request, not per invoice; value flows continuously.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5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500" b="1" i="0">
                <a:solidFill>
                  <a:srgbClr val="E9EEF4"/>
                </a:solidFill>
                <a:latin typeface="Roboto"/>
              </a:rPr>
              <a:t>Compliance as code</a:t>
            </a:r>
            <a:r>
              <a:rPr sz="1500" b="0" i="0">
                <a:solidFill>
                  <a:srgbClr val="9BA9BC"/>
                </a:solidFill>
                <a:latin typeface="Roboto"/>
              </a:rPr>
              <a:t> — screening is an on-chain precondition to payout, not paperwork after the fact.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5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500" b="1" i="0">
                <a:solidFill>
                  <a:srgbClr val="E9EEF4"/>
                </a:solidFill>
                <a:latin typeface="Roboto"/>
              </a:rPr>
              <a:t>Agent-to-agent commerce</a:t>
            </a:r>
            <a:r>
              <a:rPr sz="1500" b="0" i="0">
                <a:solidFill>
                  <a:srgbClr val="9BA9BC"/>
                </a:solidFill>
                <a:latin typeface="Roboto"/>
              </a:rPr>
              <a:t> — a named seller advertises services and gets paid without a human in the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06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BUILT ON CIRCLE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Deep in the </a:t>
            </a:r>
            <a:r>
              <a:rPr sz="4000" b="1" i="0" spc="-40">
                <a:solidFill>
                  <a:srgbClr val="2FD0A0"/>
                </a:solidFill>
                <a:latin typeface="Roboto Mono"/>
              </a:rPr>
              <a:t>Agent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10637215" cy="658368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500" b="1" i="0">
                <a:solidFill>
                  <a:srgbClr val="E9EEF4"/>
                </a:solidFill>
                <a:latin typeface="Roboto Mono"/>
              </a:rPr>
              <a:t>USDC on Arc    </a:t>
            </a:r>
            <a:r>
              <a:rPr sz="1300" b="1" i="0">
                <a:solidFill>
                  <a:srgbClr val="2FD0A0"/>
                </a:solidFill>
                <a:latin typeface="Roboto Mono"/>
              </a:rPr>
              <a:t>● live 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— every leg, x402 and escrow, one settlement 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63824"/>
            <a:ext cx="10637215" cy="658368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500" b="1" i="0">
                <a:solidFill>
                  <a:srgbClr val="E9EEF4"/>
                </a:solidFill>
                <a:latin typeface="Roboto Mono"/>
              </a:rPr>
              <a:t>Circle Wallets    </a:t>
            </a:r>
            <a:r>
              <a:rPr sz="1300" b="1" i="0">
                <a:solidFill>
                  <a:srgbClr val="2FD0A0"/>
                </a:solidFill>
                <a:latin typeface="Roboto Mono"/>
              </a:rPr>
              <a:t>● integrated 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— agent-wallet signer via WALLET_PROVIDER=circle, activating with API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50208"/>
            <a:ext cx="10637215" cy="658368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500" b="1" i="0">
                <a:solidFill>
                  <a:srgbClr val="E9EEF4"/>
                </a:solidFill>
                <a:latin typeface="Roboto Mono"/>
              </a:rPr>
              <a:t>Compliance Engine    </a:t>
            </a:r>
            <a:r>
              <a:rPr sz="1300" b="1" i="0">
                <a:solidFill>
                  <a:srgbClr val="2FD0A0"/>
                </a:solidFill>
                <a:latin typeface="Roboto Mono"/>
              </a:rPr>
              <a:t>● integrated 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— watcher screens sellers; labeled fallback when no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36592"/>
            <a:ext cx="10637215" cy="658368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500" b="1" i="0">
                <a:solidFill>
                  <a:srgbClr val="E9EEF4"/>
                </a:solidFill>
                <a:latin typeface="Roboto Mono"/>
              </a:rPr>
              <a:t>Nanopayments    </a:t>
            </a:r>
            <a:r>
              <a:rPr sz="1300" b="1" i="0">
                <a:solidFill>
                  <a:srgbClr val="E5B567"/>
                </a:solidFill>
                <a:latin typeface="Roboto Mono"/>
              </a:rPr>
              <a:t>◆ upgrade path 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— x402 leg maps directly onto batched nanopayments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22976"/>
            <a:ext cx="10637215" cy="658368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500" b="1" i="0">
                <a:solidFill>
                  <a:srgbClr val="E9EEF4"/>
                </a:solidFill>
                <a:latin typeface="Roboto Mono"/>
              </a:rPr>
              <a:t>Paymaster · CCTP    </a:t>
            </a:r>
            <a:r>
              <a:rPr sz="1300" b="1" i="0">
                <a:solidFill>
                  <a:srgbClr val="E5B567"/>
                </a:solidFill>
                <a:latin typeface="Roboto Mono"/>
              </a:rPr>
              <a:t>◆ roadmap   </a:t>
            </a:r>
            <a:r>
              <a:rPr sz="1300" b="0" i="0">
                <a:solidFill>
                  <a:srgbClr val="9BA9BC"/>
                </a:solidFill>
                <a:latin typeface="Roboto"/>
              </a:rPr>
              <a:t>— gasless agent onboarding + cross-chain USDC withdrawal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07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TRACK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Made for </a:t>
            </a:r>
            <a:r>
              <a:rPr sz="4000" b="1" i="0" spc="-40">
                <a:solidFill>
                  <a:srgbClr val="2FD0A0"/>
                </a:solidFill>
                <a:latin typeface="Roboto Mono"/>
              </a:rPr>
              <a:t>Agentic Economy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23160"/>
          <a:ext cx="1063721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790895"/>
              </a:tblGrid>
              <a:tr h="579120">
                <a:tc>
                  <a:txBody>
                    <a:bodyPr/>
                    <a:lstStyle/>
                    <a:p>
                      <a:r>
                        <a:rPr sz="1100" b="0" i="0" spc="120">
                          <a:solidFill>
                            <a:srgbClr val="6B7A8E"/>
                          </a:solidFill>
                          <a:latin typeface="Roboto Mono"/>
                        </a:rPr>
                        <a:t>WHAT THE TRACK WANTS</a:t>
                      </a:r>
                    </a:p>
                  </a:txBody>
                  <a:tcPr marL="146304" marT="54864" marB="54864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spc="120">
                          <a:solidFill>
                            <a:srgbClr val="6B7A8E"/>
                          </a:solidFill>
                          <a:latin typeface="Roboto Mono"/>
                        </a:rPr>
                        <a:t>WHAT AGENTMESH SHIPS</a:t>
                      </a:r>
                    </a:p>
                  </a:txBody>
                  <a:tcPr marL="146304" marT="54864" marB="54864">
                    <a:solidFill>
                      <a:srgbClr val="0E152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9EEF4"/>
                          </a:solidFill>
                          <a:latin typeface="Roboto"/>
                        </a:rPr>
                        <a:t>Agents that hold wallets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named agent wallets — registry + Circle Wallets signer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9EEF4"/>
                          </a:solidFill>
                          <a:latin typeface="Roboto"/>
                        </a:rPr>
                        <a:t>Decision logic on real signals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watcher acts on on-chain JobCreated / delivery / deadlines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9EEF4"/>
                          </a:solidFill>
                          <a:latin typeface="Roboto"/>
                        </a:rPr>
                        <a:t>Autonomous USDC settlement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x402 streaming + escrow, no human in the loop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9EEF4"/>
                          </a:solidFill>
                          <a:latin typeface="Roboto"/>
                        </a:rPr>
                        <a:t>Agent Stack → wallets &amp; actions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SDK wallet layer, MCP tools, on-chain calls</a:t>
                      </a:r>
                    </a:p>
                  </a:txBody>
                  <a:tcPr marL="146304" marT="45720" marB="45720" anchor="ctr">
                    <a:solidFill>
                      <a:srgbClr val="0E152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9EEF4"/>
                          </a:solidFill>
                          <a:latin typeface="Roboto"/>
                        </a:rPr>
                        <a:t>Nanopayments for a2a payments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4C8DFF"/>
                          </a:solidFill>
                          <a:latin typeface="Roboto Mono"/>
                        </a:rPr>
                        <a:t>x402 micropayment handshake (nanopayments-ready)</a:t>
                      </a:r>
                    </a:p>
                  </a:txBody>
                  <a:tcPr marL="146304" marT="45720" marB="45720" anchor="ctr">
                    <a:solidFill>
                      <a:srgbClr val="1119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08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NOT 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1" i="0" spc="-40">
                <a:solidFill>
                  <a:srgbClr val="E9EEF4"/>
                </a:solidFill>
                <a:latin typeface="Roboto Mono"/>
              </a:rPr>
              <a:t>Hardened to </a:t>
            </a:r>
            <a:r>
              <a:rPr sz="3800" b="1" i="0" spc="-40">
                <a:solidFill>
                  <a:srgbClr val="2FD0A0"/>
                </a:solidFill>
                <a:latin typeface="Roboto Mono"/>
              </a:rPr>
              <a:t>production 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2522143" cy="146304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09728"/>
          <a:lstStyle/>
          <a:p>
            <a:pPr algn="l"/>
            <a:r>
              <a:rPr sz="3000" b="1" i="0">
                <a:solidFill>
                  <a:srgbClr val="2FD0A0"/>
                </a:solidFill>
                <a:latin typeface="Roboto Mono"/>
              </a:rPr>
              <a:t>85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BA9BC"/>
                </a:solidFill>
                <a:latin typeface="Roboto"/>
              </a:rPr>
              <a:t>tests — 51 Foundry (unit·fuzz·invariant) + 34 vitest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2263" y="2331720"/>
            <a:ext cx="2522143" cy="146304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09728"/>
          <a:lstStyle/>
          <a:p>
            <a:pPr algn="l"/>
            <a:r>
              <a:rPr sz="3000" b="1" i="0">
                <a:solidFill>
                  <a:srgbClr val="4C8DFF"/>
                </a:solidFill>
                <a:latin typeface="Roboto Mono"/>
              </a:rPr>
              <a:t>97%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BA9BC"/>
                </a:solidFill>
                <a:latin typeface="Roboto"/>
              </a:rPr>
              <a:t>contract line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2331720"/>
            <a:ext cx="2522143" cy="146304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09728"/>
          <a:lstStyle/>
          <a:p>
            <a:pPr algn="l"/>
            <a:r>
              <a:rPr sz="3000" b="1" i="0">
                <a:solidFill>
                  <a:srgbClr val="2FD0A0"/>
                </a:solidFill>
                <a:latin typeface="Roboto Mono"/>
              </a:rPr>
              <a:t>CI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BA9BC"/>
                </a:solidFill>
                <a:latin typeface="Roboto"/>
              </a:rPr>
              <a:t>green — build, typecheck, lint, tests, Slither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2311" y="2331720"/>
            <a:ext cx="2522143" cy="1463040"/>
          </a:xfrm>
          <a:prstGeom prst="roundRect">
            <a:avLst>
              <a:gd name="adj" fmla="val 4500"/>
            </a:avLst>
          </a:prstGeom>
          <a:solidFill>
            <a:srgbClr val="111926"/>
          </a:solidFill>
          <a:ln w="12700">
            <a:solidFill>
              <a:srgbClr val="24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09728"/>
          <a:lstStyle/>
          <a:p>
            <a:pPr algn="l"/>
            <a:r>
              <a:rPr sz="3000" b="1" i="0">
                <a:solidFill>
                  <a:srgbClr val="E5B567"/>
                </a:solidFill>
                <a:latin typeface="Roboto Mono"/>
              </a:rPr>
              <a:t>kill-9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BA9BC"/>
                </a:solidFill>
                <a:latin typeface="Roboto"/>
              </a:rPr>
              <a:t>resilience drill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50442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40">
                <a:solidFill>
                  <a:srgbClr val="6B7A8E"/>
                </a:solidFill>
                <a:latin typeface="Roboto Mono"/>
              </a:rPr>
              <a:t>SECURITY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Payer-bound x402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signed quotes, replay set survives restarts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Fail-closed compliance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screening outage denies, never opens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Ownable2Step + Pausable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pause blocks new jobs, never traps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4114800"/>
            <a:ext cx="50442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40">
                <a:solidFill>
                  <a:srgbClr val="6B7A8E"/>
                </a:solidFill>
                <a:latin typeface="Roboto Mono"/>
              </a:rPr>
              <a:t>OPERATIONS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SQLite persistence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payments &amp; job state survive crashes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Health checks + logs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Docker, graceful shutdown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▸  </a:t>
            </a:r>
            <a:r>
              <a:rPr sz="1400" b="1" i="0">
                <a:solidFill>
                  <a:srgbClr val="E9EEF4"/>
                </a:solidFill>
                <a:latin typeface="Roboto"/>
              </a:rPr>
              <a:t>Runbook + deploy guide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 — key rotation, pause, gate-swap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09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 spc="-40">
                <a:solidFill>
                  <a:srgbClr val="E9EEF4"/>
                </a:solidFill>
                <a:latin typeface="Roboto Mono"/>
              </a:rPr>
              <a:t>Runs today. </a:t>
            </a:r>
            <a:r>
              <a:rPr sz="4000" b="1" i="0" spc="-40">
                <a:solidFill>
                  <a:srgbClr val="2FD0A0"/>
                </a:solidFill>
                <a:latin typeface="Roboto Mono"/>
              </a:rPr>
              <a:t>Testnet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5135727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40">
                <a:solidFill>
                  <a:srgbClr val="6B7A8E"/>
                </a:solidFill>
                <a:latin typeface="Roboto Mono"/>
              </a:rPr>
              <a:t>WORKING NOW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✓  </a:t>
            </a:r>
            <a:r>
              <a:rPr sz="1400" b="0" i="0">
                <a:solidFill>
                  <a:srgbClr val="E9EEF4"/>
                </a:solidFill>
                <a:latin typeface="Roboto"/>
              </a:rPr>
              <a:t>pnpm demo:local — full e2e on a local Arc chain in ~2 min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✓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naming → 50 x402 micropayments → screened $5 escrow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✓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delivery → watcher auto-release → dispute / refund branch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2FD0A0"/>
                </a:solidFill>
                <a:latin typeface="Roboto Mono"/>
              </a:rPr>
              <a:t>✓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every path balance-asserted on-chain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514600"/>
            <a:ext cx="5135727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40">
                <a:solidFill>
                  <a:srgbClr val="6B7A8E"/>
                </a:solidFill>
                <a:latin typeface="Roboto Mono"/>
              </a:rPr>
              <a:t>NEXT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E5B567"/>
                </a:solidFill>
                <a:latin typeface="Roboto Mono"/>
              </a:rPr>
              <a:t>→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Deploy to Arc Testnet — artifact-driven, one command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E5B567"/>
                </a:solidFill>
                <a:latin typeface="Roboto Mono"/>
              </a:rPr>
              <a:t>→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Activate Circle agent wallets with the API key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E5B567"/>
                </a:solidFill>
                <a:latin typeface="Roboto Mono"/>
              </a:rPr>
              <a:t>→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Circle Compliance Engine live screening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400" b="1" i="0">
                <a:solidFill>
                  <a:srgbClr val="E5B567"/>
                </a:solidFill>
                <a:latin typeface="Roboto Mono"/>
              </a:rPr>
              <a:t>→  </a:t>
            </a:r>
            <a:r>
              <a:rPr sz="1400" b="0" i="0">
                <a:solidFill>
                  <a:srgbClr val="9BA9BC"/>
                </a:solidFill>
                <a:latin typeface="Roboto"/>
              </a:rPr>
              <a:t>48h unattended soak on real rails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FD0A0"/>
                </a:solidFill>
                <a:latin typeface="Roboto Mono"/>
              </a:rPr>
              <a:t>10   </a:t>
            </a:r>
            <a:r>
              <a:rPr sz="1200" b="0" i="0" spc="220">
                <a:solidFill>
                  <a:srgbClr val="6B7A8E"/>
                </a:solidFill>
                <a:latin typeface="Roboto Mono"/>
              </a:rPr>
              <a:t>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32688"/>
            <a:ext cx="10637215" cy="12700"/>
          </a:xfrm>
          <a:prstGeom prst="rect">
            <a:avLst/>
          </a:prstGeom>
          <a:solidFill>
            <a:srgbClr val="243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3200" b="1" i="0" spc="-40">
                <a:solidFill>
                  <a:srgbClr val="E9EEF4"/>
                </a:solidFill>
                <a:latin typeface="Roboto Mono"/>
              </a:rPr>
              <a:t>When agents transact at machine speed,</a:t>
            </a:r>
          </a:p>
          <a:p>
            <a:pPr>
              <a:lnSpc>
                <a:spcPct val="112000"/>
              </a:lnSpc>
            </a:pPr>
            <a:r>
              <a:rPr sz="3200" b="1" i="0" spc="-40">
                <a:solidFill>
                  <a:srgbClr val="E9EEF4"/>
                </a:solidFill>
                <a:latin typeface="Roboto Mono"/>
              </a:rPr>
              <a:t>settlement has to be </a:t>
            </a:r>
            <a:r>
              <a:rPr sz="3200" b="1" i="0" spc="-40">
                <a:solidFill>
                  <a:srgbClr val="2FD0A0"/>
                </a:solidFill>
                <a:latin typeface="Roboto Mono"/>
              </a:rPr>
              <a:t>named, instant, and</a:t>
            </a:r>
          </a:p>
          <a:p>
            <a:pPr>
              <a:lnSpc>
                <a:spcPct val="112000"/>
              </a:lnSpc>
            </a:pPr>
            <a:r>
              <a:rPr sz="3200" b="1" i="0" spc="-40">
                <a:solidFill>
                  <a:srgbClr val="2FD0A0"/>
                </a:solidFill>
                <a:latin typeface="Roboto Mono"/>
              </a:rPr>
              <a:t>compliant</a:t>
            </a:r>
            <a:r>
              <a:rPr sz="3200" b="1" i="0" spc="-40">
                <a:solidFill>
                  <a:srgbClr val="E9EEF4"/>
                </a:solidFill>
                <a:latin typeface="Roboto Mono"/>
              </a:rPr>
              <a:t> — or it doesn't happen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700" b="1" i="0">
                <a:solidFill>
                  <a:srgbClr val="E9EEF4"/>
                </a:solidFill>
                <a:latin typeface="Roboto"/>
              </a:rPr>
              <a:t>AgentMesh</a:t>
            </a:r>
            <a:r>
              <a:rPr sz="1700" b="0" i="0">
                <a:solidFill>
                  <a:srgbClr val="9BA9BC"/>
                </a:solidFill>
                <a:latin typeface="Roboto"/>
              </a:rPr>
              <a:t> is that settlement layer: identity, sub-cent payments, screened escrow, and automation — stablecoin-native on Arc, ready for the agent economy.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715000"/>
            <a:ext cx="8412480" cy="548640"/>
          </a:xfrm>
          <a:prstGeom prst="roundRect">
            <a:avLst>
              <a:gd name="adj" fmla="val 4500"/>
            </a:avLst>
          </a:prstGeom>
          <a:solidFill>
            <a:srgbClr val="0E1520"/>
          </a:solidFill>
          <a:ln w="12700">
            <a:solidFill>
              <a:srgbClr val="2F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 spc="50">
                <a:solidFill>
                  <a:srgbClr val="2FD0A0"/>
                </a:solidFill>
                <a:latin typeface="Roboto Mono"/>
              </a:rPr>
              <a:t>●  AgentMesh · Programmable Money Hackathon · Agentic Economy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